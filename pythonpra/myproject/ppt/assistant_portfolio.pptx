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4-1.mp4"/><Relationship Id="rId2" Type="http://schemas.microsoft.com/office/2007/relationships/media" Target="../media/media-14-1.mp4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AI 비서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AA4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손동작 · 음성 · 포즈를 로컬 LLM으로 해석해 PC를 제어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56327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발표자:정의형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요약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B8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소개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603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손동작 · 음성 · 포즈를 로컬 LLM으로 해석해 PC를 제어하는 개인 비서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ADB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프로젝트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120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· 구현 · 검증 전 과정 진행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0" y="1828800"/>
            <a:ext cx="65836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257800" y="1828800"/>
            <a:ext cx="13258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구조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1828800"/>
            <a:ext cx="47091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입력(손 · 포즈 · 음성) → 명령 해석 → 허용 목록 검사 → PC 동작 실행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2907792"/>
            <a:ext cx="65836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257800" y="2907792"/>
            <a:ext cx="13258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방식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907792"/>
            <a:ext cx="47091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작성은 VS Code, 설계 조언과 원인 분석에는 Claude Code 활용. 제품 안의 Qwen과는 별개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3986784"/>
            <a:ext cx="6583680" cy="969264"/>
          </a:xfrm>
          <a:prstGeom prst="roundRect">
            <a:avLst>
              <a:gd name="adj" fmla="val 754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57800" y="3986784"/>
            <a:ext cx="13258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과정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986784"/>
            <a:ext cx="47091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클릭과 박수 두 곳에서 짐작한 원인과 실제 원인이 달랐고, 로그 기록으로 원인 확정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0" y="5065776"/>
            <a:ext cx="6583680" cy="969264"/>
          </a:xfrm>
          <a:prstGeom prst="roundRect">
            <a:avLst>
              <a:gd name="adj" fmla="val 7547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57800" y="5065776"/>
            <a:ext cx="13258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5065776"/>
            <a:ext cx="47091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받아쓰기 5개 중 4개 정확, LLM 예시 7문장 모두 정답. 표본 부족과 소음 환경 미확인은 한계로 명시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출발과 목표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228600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MediaPipe 손 인식을 PC 조작에 활용할 방법 탐색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931920" y="2011680"/>
            <a:ext cx="457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89120" y="201168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7720" y="228600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C84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문제의식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제스처에 정해진 기능이 붙은 방식은 원하는 동작을 붙이기 어려움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2011680"/>
            <a:ext cx="457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229600" y="201168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58200" y="228600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클릭과 예/아니오만 고정, 나머지 모든 동작은 사용자가 직접 정의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방안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82880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68680" y="2423160"/>
            <a:ext cx="640080" cy="640080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1828800"/>
            <a:ext cx="3794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자연어로 명령 등록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263640" y="182880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2423160"/>
            <a:ext cx="640080" cy="640080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543800" y="1828800"/>
            <a:ext cx="3794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 목록의 동작만 실행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68680" y="4526280"/>
            <a:ext cx="640080" cy="640080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868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828800" y="3931920"/>
            <a:ext cx="3794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· 포즈 · 음성이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엔진 하나를 공유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6263640" y="393192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83680" y="4526280"/>
            <a:ext cx="640080" cy="640080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7543800" y="3931920"/>
            <a:ext cx="3794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동작에 맞춘 목록,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실행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2834640" y="164592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69264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194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마이크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977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넘기는 값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206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· 소리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468880" y="2011680"/>
            <a:ext cx="365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2834640" y="2011680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017520" y="2194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인식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017520" y="29260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· 포즈 · 음성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017520" y="3977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넘기는 값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017520" y="4206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이름 ·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받아쓴 문장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754880" y="2011680"/>
            <a:ext cx="365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5120640" y="2011680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5303520" y="2194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0" y="29260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 전환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(한 번에 하나)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찾기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303520" y="3977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넘기는 값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303520" y="4206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또는 문장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2011680"/>
            <a:ext cx="365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7406640" y="2011680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589520" y="2194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· 검증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589520" y="29260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commandmodule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 목록 검사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589520" y="3977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넘기는 값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589520" y="4206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 action, target }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9326880" y="2011680"/>
            <a:ext cx="365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30" name="Shape 27"/>
          <p:cNvSpPr/>
          <p:nvPr/>
        </p:nvSpPr>
        <p:spPr>
          <a:xfrm>
            <a:off x="9692640" y="2011680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875520" y="2194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9875520" y="29260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windowcontrol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마우스 · 키 · 창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4983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방안의 결과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48640" y="5303520"/>
            <a:ext cx="2628900" cy="1051560"/>
          </a:xfrm>
          <a:prstGeom prst="roundRect">
            <a:avLst>
              <a:gd name="adj" fmla="val 695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31520" y="5394960"/>
            <a:ext cx="22631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자연어 등록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없이 동작 연결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3360420" y="5303520"/>
            <a:ext cx="2628900" cy="1051560"/>
          </a:xfrm>
          <a:prstGeom prst="roundRect">
            <a:avLst>
              <a:gd name="adj" fmla="val 695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543300" y="5394960"/>
            <a:ext cx="22631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허용 목록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목록에 있는 동작만 실행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6172200" y="5303520"/>
            <a:ext cx="2628900" cy="1051560"/>
          </a:xfrm>
          <a:prstGeom prst="roundRect">
            <a:avLst>
              <a:gd name="adj" fmla="val 695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355080" y="5394960"/>
            <a:ext cx="22631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명령 엔진 공유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· 포즈 · 음성이 같은 명령 사용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8983980" y="5303520"/>
            <a:ext cx="2628900" cy="1051560"/>
          </a:xfrm>
          <a:prstGeom prst="roundRect">
            <a:avLst>
              <a:gd name="adj" fmla="val 695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166860" y="5394960"/>
            <a:ext cx="22631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로컬 실행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 둔 PC 조작만 PC 안에서 처리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가져온 의도와 직접 한 조정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920240"/>
                <a:gridCol w="4206240"/>
                <a:gridCol w="3749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가져온 의도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한 조정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 · 포즈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MediaPipe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Hands · Pose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MediaPipe 손 인식을 PC 조작 입력으로 확장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클릭 판정 조건 변경, 거리 정규화, 진입 · 해제 기준 분리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faster-whisper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medium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음성으로 앱 실행 · 검색 · 단축키 명령. 소음을 고려해 small보다 큰 모델 선택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 두 가지(손등 3초, 웨이크워드), 받아쓰기와 해석 분리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Qwen2.5-3B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(Ollama)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수정 없이 자연어로 동작 연결. 작은 모델을 PC 안에서 실행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 예시 보강, 허용 목록 검사, 응답 지연 시 해당 명령만 실패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sounddevice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NumPy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없이 음량 변화만으로 모드 전환 시도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시점 불일치 보정, 최종은 양손 모으기 1초로 대체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PC 제어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pywin32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마우스 · 키보드 · 창을 한 라이브러리로 제어 (Windows 전용)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 목록의 동작만 실행하도록 범위 제한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B8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가져온 도구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MediaPipe Hands · OpenCV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ADB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가져온 의도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7764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인식을 PC 조작 입력으로 확장하려는 목적. 인식 기술은 그대로 두고 판정 기준과 동작 연결을 직접 설계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0" y="1828800"/>
            <a:ext cx="6583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257800" y="18288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182880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엄지–중지 거리로 클릭 판정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2697480"/>
            <a:ext cx="6583680" cy="73152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57800" y="269748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4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69748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의도하지 않은 클릭 반복 발동. 처음에는 손 떨림으로 추정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3566160"/>
            <a:ext cx="6583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257800" y="356616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56616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판정값을 로그로 기록. 손을 돌리는 동안 거리가 0.17에서 0.003으로 하락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0" y="4434840"/>
            <a:ext cx="6583680" cy="73152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57800" y="44348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4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443484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붙은 것이 아니라 2D 화면에서 손가락이 겹쳐 보인 현상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5303520"/>
            <a:ext cx="6583680" cy="731520"/>
          </a:xfrm>
          <a:prstGeom prst="roundRect">
            <a:avLst>
              <a:gd name="adj" fmla="val 10000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57800" y="530352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530352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손바닥이 정면일 때만 클릭 판정. 거리는 정규화, 손날 판정은 진입 · 해제 기준 분리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B8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가져온 도구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Qwen2.5-3B-Instruct (Ollama)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ADB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가져온 의도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7764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수정 없이 명령을 연결하려는 목적. 인식은 코드, 해석은 LLM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이유: 일반 PC에서 직접 실행 가능한 3B(30억 파라미터) 규모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제약: GPU가 없는 환경에서는 더 작은 모델로 축소 필요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0" y="1828800"/>
            <a:ext cx="6583680" cy="948690"/>
          </a:xfrm>
          <a:prstGeom prst="roundRect">
            <a:avLst>
              <a:gd name="adj" fmla="val 77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257800" y="1828800"/>
            <a:ext cx="132588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1828800"/>
            <a:ext cx="470916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없이 매 요청마다 지시문과 예시를 프롬프트로 전달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2914650"/>
            <a:ext cx="6583680" cy="948690"/>
          </a:xfrm>
          <a:prstGeom prst="roundRect">
            <a:avLst>
              <a:gd name="adj" fmla="val 7711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57800" y="2914650"/>
            <a:ext cx="132588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4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오해석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914650"/>
            <a:ext cx="470916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"음소거"를 모니터 끄기로 해석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예시를 프롬프트에 추가 (7문장 모두 정답)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4000500"/>
            <a:ext cx="6583680" cy="948690"/>
          </a:xfrm>
          <a:prstGeom prst="roundRect">
            <a:avLst>
              <a:gd name="adj" fmla="val 7711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57800" y="4000500"/>
            <a:ext cx="132588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4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임의 생성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4000500"/>
            <a:ext cx="470916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동작을 만들어 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허용 목록에 있는 동작만 실행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0" y="5086350"/>
            <a:ext cx="6583680" cy="948690"/>
          </a:xfrm>
          <a:prstGeom prst="roundRect">
            <a:avLst>
              <a:gd name="adj" fmla="val 7711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57800" y="5086350"/>
            <a:ext cx="132588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4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지연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5086350"/>
            <a:ext cx="470916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전체 종료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해당 명령만 실패 처리, 모델은 메모리에 유지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B8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가져온 도구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faster-whisper medium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ADB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가져온 의도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7764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음성으로 앱 실행 · 웹 검색 · 단축키를 명령하려는 목적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이유: 소음 환경을 고려해 small 대신 medium 선택, GPU로 실행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small과 차이: 파라미터 약 3배 (2.4억 → 7.7억)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향상, 속도 · 메모리 부담 증가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0" y="1828800"/>
            <a:ext cx="6583680" cy="948690"/>
          </a:xfrm>
          <a:prstGeom prst="roundRect">
            <a:avLst>
              <a:gd name="adj" fmla="val 77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257800" y="1828800"/>
            <a:ext cx="132588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 ①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1828800"/>
            <a:ext cx="470916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손등 3초 유지로 녹음 시작, 손을 떼면 종료. 소음 환경 대비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2914650"/>
            <a:ext cx="6583680" cy="948690"/>
          </a:xfrm>
          <a:prstGeom prst="roundRect">
            <a:avLst>
              <a:gd name="adj" fmla="val 77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257800" y="2914650"/>
            <a:ext cx="132588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 ②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914650"/>
            <a:ext cx="470916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웨이크워드로 녹음 시작, 무음 1.2초 뒤 종료 (단어는 임시)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4000500"/>
            <a:ext cx="6583680" cy="948690"/>
          </a:xfrm>
          <a:prstGeom prst="roundRect">
            <a:avLst>
              <a:gd name="adj" fmla="val 7711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57800" y="4000500"/>
            <a:ext cx="132588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분리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4000500"/>
            <a:ext cx="470916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Whisper는 받아쓰기만, 의미 해석은 LLM이 담당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0" y="5086350"/>
            <a:ext cx="6583680" cy="948690"/>
          </a:xfrm>
          <a:prstGeom prst="roundRect">
            <a:avLst>
              <a:gd name="adj" fmla="val 7711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57800" y="5086350"/>
            <a:ext cx="132588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5086350"/>
            <a:ext cx="470916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녹음 5개 중 4개 정확, 해석 4개 모두 의도대로. 조용한 환경 기준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박수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B8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가져온 도구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sounddevice · NumPy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ADB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가져온 의도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7764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 전환 수단으로 시도. 별도 모델 없이 음량 변화만으로 박수 감지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0" y="1828800"/>
            <a:ext cx="6583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257800" y="18288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182880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박수가 인식되지 않음. 소리 감지가 약하다고 추정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2697480"/>
            <a:ext cx="6583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257800" y="269748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 확인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69748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박수 신호는 이미 정상 감지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3566160"/>
            <a:ext cx="6583680" cy="73152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57800" y="356616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4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56616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박수 신호(30ms)와 카메라 프레임(33ms)의 시점 불일치. 양손이 하나로 검출되는 경우 발생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0" y="4434840"/>
            <a:ext cx="6583680" cy="731520"/>
          </a:xfrm>
          <a:prstGeom prst="roundRect">
            <a:avLst>
              <a:gd name="adj" fmla="val 10000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57800" y="44348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443484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직전 1초 안에 양손이 모였으면 인정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5303520"/>
            <a:ext cx="6583680" cy="731520"/>
          </a:xfrm>
          <a:prstGeom prst="roundRect">
            <a:avLst>
              <a:gd name="adj" fmla="val 10000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57800" y="530352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530352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전환이 말끔하지 않아 박수는 보류. 양손 모으기 1초로 모드 전환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B8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가져온 도구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MediaPipe Pose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ADB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가져온 의도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7764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포즈 인식 예제(YOLO)를 보고 시도. 손과 같은 MediaPipe로 구현하고 가시성 정보 활용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0" y="1828800"/>
            <a:ext cx="6583680" cy="948690"/>
          </a:xfrm>
          <a:prstGeom prst="roundRect">
            <a:avLst>
              <a:gd name="adj" fmla="val 77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257800" y="1828800"/>
            <a:ext cx="132588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1828800"/>
            <a:ext cx="470916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상체 좌표 18 + 팔꿈치 각도 2 + 머리 방향 2, 22차원 특징 추출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2914650"/>
            <a:ext cx="6583680" cy="948690"/>
          </a:xfrm>
          <a:prstGeom prst="roundRect">
            <a:avLst>
              <a:gd name="adj" fmla="val 7711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57800" y="2914650"/>
            <a:ext cx="132588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 분리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914650"/>
            <a:ext cx="470916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손과 포즈는 한 번에 하나만 활성화해 충돌 방지. 명령 모듈은 공유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4000500"/>
            <a:ext cx="6583680" cy="948690"/>
          </a:xfrm>
          <a:prstGeom prst="roundRect">
            <a:avLst>
              <a:gd name="adj" fmla="val 7711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57800" y="4000500"/>
            <a:ext cx="132588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4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 제외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4000500"/>
            <a:ext cx="470916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 깜빡임 인식도 구현. 사람마다 눈 크기가 달라 기준값 설정이 곤란해 제외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0" y="5086350"/>
            <a:ext cx="6583680" cy="948690"/>
          </a:xfrm>
          <a:prstGeom prst="roundRect">
            <a:avLst>
              <a:gd name="adj" fmla="val 7711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57800" y="5086350"/>
            <a:ext cx="132588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단계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5086350"/>
            <a:ext cx="470916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 추출까지 완료. 자세 등록 · 인식은 다음 단계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검증과 한계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82880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22960" y="205740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확인한 방법</a:t>
            </a:r>
            <a:endParaRPr lang="en-US" sz="1400" dirty="0"/>
          </a:p>
          <a:p>
            <a:pPr marL="342900" indent="-342900">
              <a:spcBef>
                <a:spcPts val="1400"/>
              </a:spcBef>
              <a:buSzPct val="100000"/>
              <a:buChar char="•"/>
            </a:pP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로그로 원인 확인 (손, 박수)</a:t>
            </a:r>
            <a:endParaRPr lang="en-US" sz="1400" dirty="0"/>
          </a:p>
          <a:p>
            <a:pPr marL="342900" indent="-342900">
              <a:spcBef>
                <a:spcPts val="1400"/>
              </a:spcBef>
              <a:buSzPct val="100000"/>
              <a:buChar char="•"/>
            </a:pP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녹음 5개 받아쓰기 · 해석 확인</a:t>
            </a:r>
            <a:endParaRPr lang="en-US" sz="1400" dirty="0"/>
          </a:p>
          <a:p>
            <a:pPr marL="342900" indent="-342900">
              <a:spcBef>
                <a:spcPts val="1400"/>
              </a:spcBef>
              <a:buSzPct val="100000"/>
              <a:buChar char="•"/>
            </a:pP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문장으로 LLM 해석 확인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343400" y="182880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617720" y="205740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결과</a:t>
            </a:r>
            <a:endParaRPr lang="en-US" sz="1400" dirty="0"/>
          </a:p>
          <a:p>
            <a:pPr marL="342900" indent="-342900">
              <a:spcBef>
                <a:spcPts val="1400"/>
              </a:spcBef>
              <a:buSzPct val="100000"/>
              <a:buChar char="•"/>
            </a:pP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음성: 받아쓰기 5개 중 4개 정확, 해석 4개 모두 의도대로</a:t>
            </a:r>
            <a:endParaRPr lang="en-US" sz="1400" dirty="0"/>
          </a:p>
          <a:p>
            <a:pPr marL="342900" indent="-342900">
              <a:spcBef>
                <a:spcPts val="1400"/>
              </a:spcBef>
              <a:buSzPct val="100000"/>
              <a:buChar char="•"/>
            </a:pP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LLM: 예시 7문장 모두 정답</a:t>
            </a:r>
            <a:endParaRPr lang="en-US" sz="1400" dirty="0"/>
          </a:p>
          <a:p>
            <a:pPr marL="342900" indent="-342900">
              <a:spcBef>
                <a:spcPts val="1400"/>
              </a:spcBef>
              <a:buSzPct val="100000"/>
              <a:buChar char="•"/>
            </a:pP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손: 겹침 오발동 해결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138160" y="182880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12480" y="205740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84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400" dirty="0"/>
          </a:p>
          <a:p>
            <a:pPr marL="342900" indent="-342900">
              <a:spcBef>
                <a:spcPts val="1400"/>
              </a:spcBef>
              <a:buSzPct val="100000"/>
              <a:buChar char="•"/>
            </a:pP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 부족 (파일 5개, 조용한 환경)</a:t>
            </a:r>
            <a:endParaRPr lang="en-US" sz="1400" dirty="0"/>
          </a:p>
          <a:p>
            <a:pPr marL="342900" indent="-342900">
              <a:spcBef>
                <a:spcPts val="1400"/>
              </a:spcBef>
              <a:buSzPct val="100000"/>
              <a:buChar char="•"/>
            </a:pP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환경 미확인</a:t>
            </a:r>
            <a:endParaRPr lang="en-US" sz="1400" dirty="0"/>
          </a:p>
          <a:p>
            <a:pPr marL="342900" indent="-342900">
              <a:spcBef>
                <a:spcPts val="1400"/>
              </a:spcBef>
              <a:buSzPct val="100000"/>
              <a:buChar char="•"/>
            </a:pP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포즈는 특징 추출까지, 박수는 전환에서 제외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점과 다음 단계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67665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6217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점</a:t>
            </a:r>
            <a:endParaRPr lang="en-US" sz="1400" dirty="0"/>
          </a:p>
          <a:p>
            <a:pPr marL="342900" indent="-342900">
              <a:spcBef>
                <a:spcPts val="1400"/>
              </a:spcBef>
              <a:buSzPct val="100000"/>
              <a:buChar char="•"/>
            </a:pPr>
            <a:r>
              <a:rPr lang="en-US" sz="17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추측보다 로그: 손 클릭과 박수 모두 짐작한 원인과 실제 원인의 불일치</a:t>
            </a:r>
            <a:endParaRPr lang="en-US" sz="1400" dirty="0"/>
          </a:p>
          <a:p>
            <a:pPr marL="342900" indent="-342900">
              <a:spcBef>
                <a:spcPts val="1400"/>
              </a:spcBef>
              <a:buSzPct val="100000"/>
              <a:buChar char="•"/>
            </a:pPr>
            <a:r>
              <a:rPr lang="en-US" sz="17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순간과 유지의 구분: 전환 자세는 최소 유지 시간으로 선별</a:t>
            </a:r>
            <a:endParaRPr lang="en-US" sz="1400" dirty="0"/>
          </a:p>
          <a:p>
            <a:pPr marL="342900" indent="-342900">
              <a:spcBef>
                <a:spcPts val="1400"/>
              </a:spcBef>
              <a:buSzPct val="100000"/>
              <a:buChar char="•"/>
            </a:pPr>
            <a:r>
              <a:rPr lang="en-US" sz="17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좌표 대신 비율: 어깨 너비 등으로 나눠 거리 영향 제거</a:t>
            </a:r>
            <a:endParaRPr lang="en-US" sz="1400" dirty="0"/>
          </a:p>
          <a:p>
            <a:pPr marL="342900" indent="-342900">
              <a:spcBef>
                <a:spcPts val="1400"/>
              </a:spcBef>
              <a:buSzPct val="100000"/>
              <a:buChar char="•"/>
            </a:pPr>
            <a:r>
              <a:rPr lang="en-US" sz="17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2D 화면의 한계: 손을 돌리면 떨어진 손가락도 겹쳐 보임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1828800"/>
            <a:ext cx="4023360" cy="4114800"/>
          </a:xfrm>
          <a:prstGeom prst="roundRect">
            <a:avLst>
              <a:gd name="adj" fmla="val 1818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0" y="2057400"/>
            <a:ext cx="3474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400" dirty="0"/>
          </a:p>
          <a:p>
            <a:pPr marL="342900" indent="-342900">
              <a:spcBef>
                <a:spcPts val="2200"/>
              </a:spcBef>
              <a:buSzPct val="100000"/>
              <a:buChar char="•"/>
            </a:pPr>
            <a:r>
              <a:rPr lang="en-US" sz="2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자세 등록 · 인식</a:t>
            </a:r>
            <a:endParaRPr lang="en-US" sz="1400" dirty="0"/>
          </a:p>
          <a:p>
            <a:pPr marL="342900" indent="-342900">
              <a:spcBef>
                <a:spcPts val="2200"/>
              </a:spcBef>
              <a:buSzPct val="100000"/>
              <a:buChar char="•"/>
            </a:pPr>
            <a:r>
              <a:rPr lang="en-US" sz="2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통합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32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950568" y="1691640"/>
            <a:ext cx="8290560" cy="4663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개인 AI 비서 — 포트폴리오</dc:title>
  <dc:subject>PptxGenJS Presentation</dc:subject>
  <dc:creator>개인 AI 비서</dc:creator>
  <cp:lastModifiedBy>개인 AI 비서</cp:lastModifiedBy>
  <cp:revision>1</cp:revision>
  <dcterms:created xsi:type="dcterms:W3CDTF">2026-10-28T05:15:09Z</dcterms:created>
  <dcterms:modified xsi:type="dcterms:W3CDTF">2026-10-28T05:15:09Z</dcterms:modified>
</cp:coreProperties>
</file>